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7"/>
  </p:normalViewPr>
  <p:slideViewPr>
    <p:cSldViewPr snapToGrid="0">
      <p:cViewPr>
        <p:scale>
          <a:sx n="120" d="100"/>
          <a:sy n="120" d="100"/>
        </p:scale>
        <p:origin x="352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0D93-B07E-0E1B-84A7-3A52A4159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E5B88E-D1BE-3232-6596-0E61B1E81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230BD-EB8D-E310-4CD1-7C0FBA4C5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02CBF-6A71-2E4F-8F24-01D042333AAB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2DD71-901A-A847-9067-92C4327B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2F352-8C41-B1D3-13BC-048AFDBAC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7935-7D54-044E-BFD8-D753AA7F0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6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A9D84-4E76-7AA6-0B35-39AF06EA7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0743A-781F-19B3-D263-40FAD863C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AE495-664C-E1BC-C219-ED2A95AA7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02CBF-6A71-2E4F-8F24-01D042333AAB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88FEA-30EC-B3FB-7E75-94321EAF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ECD0C-3EED-217C-10E8-C2F01A41B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7935-7D54-044E-BFD8-D753AA7F0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55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EBA10-D41D-4E10-939E-C3EFFFEB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27221-DBCF-F108-50CA-1BB4FFE8C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39529-4766-C057-2016-B9E0CC440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02CBF-6A71-2E4F-8F24-01D042333AAB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21743-3ED2-3086-3218-AC54FDA16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0AC42-5137-C3D6-5EE3-B95093B4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7935-7D54-044E-BFD8-D753AA7F0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33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5A28E-8EA4-C6C1-4D1C-61008C4EB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A89D2-BFAB-B800-EB01-B2C4DB1F24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5E7D12-2FB9-049D-473F-D094E2B6D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AB417-76B7-5FAF-D41C-2FC875DE8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02CBF-6A71-2E4F-8F24-01D042333AAB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EB229-659D-1FE2-1BD5-CE70370D6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07C4D-6C98-E23F-983F-6DCE2A6A3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7935-7D54-044E-BFD8-D753AA7F0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49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66462-AB78-8629-461F-06837A3F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7A93B-F184-FC39-F0B0-921151888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0F44E-8899-E30B-6B5D-FE1529ACB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59518C-BEDC-DD6A-04F3-EBC4BF3B6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2BE392-048A-A865-26EC-AEC8CE47DB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44479-D432-CB07-C49E-C89E6E779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02CBF-6A71-2E4F-8F24-01D042333AAB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59D479-C551-F5D6-6FE3-F635803D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1B6E6A-84EB-2C70-7A6D-412430AB8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7935-7D54-044E-BFD8-D753AA7F0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06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F8C10-08F5-A45D-018F-92C07984F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671E0F-BBD5-5BCB-60EE-1DC5FF06E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02CBF-6A71-2E4F-8F24-01D042333AAB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0E4983-1FD8-59E8-2106-71A1F3C7D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B46C5-ACCC-9CD4-1451-D22854356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7935-7D54-044E-BFD8-D753AA7F0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127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84718-91BC-678E-852F-08471C34C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02CBF-6A71-2E4F-8F24-01D042333AAB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17C304-2414-545A-B440-8FF3F85A9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2351F-453F-ACAC-60AD-6AE1A86E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7935-7D54-044E-BFD8-D753AA7F0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03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77DEA-48F6-1F0B-A81D-D217498C2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ADF3C-DAD3-C300-406D-B10F45794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8ABFA-C911-44AA-8BD2-E6EF42C6C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0FED2-7D23-53D3-CFB5-22897A9D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02CBF-6A71-2E4F-8F24-01D042333AAB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EDBAD-0F76-A613-2BE7-BB02C65D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79D95-EBFB-9DD5-E92D-4976B0CD5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7935-7D54-044E-BFD8-D753AA7F0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079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7D29-FE40-1732-29BC-CD467C794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D9C7A1-CF3F-2AD0-B9C5-CB2B31DC7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98781-DCE4-FD47-E4C7-E1895224E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ED160-B575-AFEC-2FEF-C6FEC5C40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02CBF-6A71-2E4F-8F24-01D042333AAB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69B58-A63E-2EE7-FA56-6BA86CC09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29D0E-A2E0-3FC0-A77A-626FC673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7935-7D54-044E-BFD8-D753AA7F0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21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0940-E6FD-0686-F086-A958D0AA7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A5BE1-7AA9-BE23-9033-FB2E8BCDC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F20A1-C758-D54F-FB2A-CEA0CBD57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02CBF-6A71-2E4F-8F24-01D042333AAB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06962-0F3E-3467-5382-CE106B273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9F912-D31C-0194-D3CD-FFAFE96C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7935-7D54-044E-BFD8-D753AA7F0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738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093342-351B-5C1F-DB6D-2093BB3D96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8C249-0282-8977-3A55-549DB55A4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B62FE-9A61-B908-9164-DC8EF036F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02CBF-6A71-2E4F-8F24-01D042333AAB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32C20-ECCE-FEF7-0EC9-3956161CE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C4E4-27C5-71A2-1994-3960BEEF7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77935-7D54-044E-BFD8-D753AA7F0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740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9233C4-3B49-1EBF-736B-A3B1C975B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9A987-40C0-E451-EE5F-F0E052A69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E5A3F-E4AD-DF4A-E20E-65BEE0D7F6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02CBF-6A71-2E4F-8F24-01D042333AAB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489D4-0203-2FD5-7197-0B2F6D68C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F4D75-C6E6-6E91-2780-F030F351F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977935-7D54-044E-BFD8-D753AA7F0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7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0292533-FFF5-07FF-DF31-E5DF305AED24}"/>
              </a:ext>
            </a:extLst>
          </p:cNvPr>
          <p:cNvCxnSpPr>
            <a:cxnSpLocks/>
          </p:cNvCxnSpPr>
          <p:nvPr/>
        </p:nvCxnSpPr>
        <p:spPr>
          <a:xfrm flipH="1">
            <a:off x="3692993" y="4426055"/>
            <a:ext cx="1" cy="760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E45295F-22B4-E844-BB98-EB00CD73E784}"/>
              </a:ext>
            </a:extLst>
          </p:cNvPr>
          <p:cNvCxnSpPr>
            <a:cxnSpLocks/>
          </p:cNvCxnSpPr>
          <p:nvPr/>
        </p:nvCxnSpPr>
        <p:spPr>
          <a:xfrm>
            <a:off x="3854168" y="4888831"/>
            <a:ext cx="0" cy="297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F376E20-01D4-A6B6-FE4B-805DAD8492BC}"/>
              </a:ext>
            </a:extLst>
          </p:cNvPr>
          <p:cNvCxnSpPr>
            <a:cxnSpLocks/>
          </p:cNvCxnSpPr>
          <p:nvPr/>
        </p:nvCxnSpPr>
        <p:spPr>
          <a:xfrm>
            <a:off x="4015343" y="5487280"/>
            <a:ext cx="0" cy="161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B910EF-8765-4EF9-9F60-04A2A5DF2BCB}"/>
              </a:ext>
            </a:extLst>
          </p:cNvPr>
          <p:cNvSpPr/>
          <p:nvPr/>
        </p:nvSpPr>
        <p:spPr>
          <a:xfrm>
            <a:off x="2266536" y="1348317"/>
            <a:ext cx="2129883" cy="301082"/>
          </a:xfrm>
          <a:prstGeom prst="roundRect">
            <a:avLst>
              <a:gd name="adj" fmla="val 50000"/>
            </a:avLst>
          </a:prstGeom>
          <a:solidFill>
            <a:schemeClr val="accent1">
              <a:alpha val="15222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Lead Generation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90FA7A4-B090-1160-3857-4ACF2565935E}"/>
              </a:ext>
            </a:extLst>
          </p:cNvPr>
          <p:cNvSpPr/>
          <p:nvPr/>
        </p:nvSpPr>
        <p:spPr>
          <a:xfrm>
            <a:off x="2266536" y="1811093"/>
            <a:ext cx="2129883" cy="301082"/>
          </a:xfrm>
          <a:prstGeom prst="roundRect">
            <a:avLst>
              <a:gd name="adj" fmla="val 50000"/>
            </a:avLst>
          </a:prstGeom>
          <a:solidFill>
            <a:schemeClr val="accent1">
              <a:alpha val="15222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Qualify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B01142F-7D5D-2D06-41F1-A444E8DC7FE1}"/>
              </a:ext>
            </a:extLst>
          </p:cNvPr>
          <p:cNvSpPr/>
          <p:nvPr/>
        </p:nvSpPr>
        <p:spPr>
          <a:xfrm>
            <a:off x="2266536" y="2273869"/>
            <a:ext cx="2129883" cy="301082"/>
          </a:xfrm>
          <a:prstGeom prst="roundRect">
            <a:avLst>
              <a:gd name="adj" fmla="val 50000"/>
            </a:avLst>
          </a:prstGeom>
          <a:solidFill>
            <a:schemeClr val="accent1">
              <a:alpha val="15222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``Meet / Assess Need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0C2B88C-BDBF-0384-3BBC-965376D7FABB}"/>
              </a:ext>
            </a:extLst>
          </p:cNvPr>
          <p:cNvSpPr/>
          <p:nvPr/>
        </p:nvSpPr>
        <p:spPr>
          <a:xfrm>
            <a:off x="2266536" y="2736645"/>
            <a:ext cx="2129883" cy="301082"/>
          </a:xfrm>
          <a:prstGeom prst="roundRect">
            <a:avLst>
              <a:gd name="adj" fmla="val 50000"/>
            </a:avLst>
          </a:prstGeom>
          <a:solidFill>
            <a:schemeClr val="accent1">
              <a:alpha val="5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Design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69E295D-60A5-537F-2502-F6BA74126663}"/>
              </a:ext>
            </a:extLst>
          </p:cNvPr>
          <p:cNvSpPr/>
          <p:nvPr/>
        </p:nvSpPr>
        <p:spPr>
          <a:xfrm>
            <a:off x="2266536" y="3199421"/>
            <a:ext cx="2129883" cy="301082"/>
          </a:xfrm>
          <a:prstGeom prst="roundRect">
            <a:avLst>
              <a:gd name="adj" fmla="val 50000"/>
            </a:avLst>
          </a:prstGeom>
          <a:solidFill>
            <a:schemeClr val="accent1">
              <a:alpha val="5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Estimate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8EBE2E3-ED9A-872A-2592-9D668B3976EB}"/>
              </a:ext>
            </a:extLst>
          </p:cNvPr>
          <p:cNvSpPr/>
          <p:nvPr/>
        </p:nvSpPr>
        <p:spPr>
          <a:xfrm>
            <a:off x="2266536" y="3662197"/>
            <a:ext cx="2129883" cy="301082"/>
          </a:xfrm>
          <a:prstGeom prst="roundRect">
            <a:avLst>
              <a:gd name="adj" fmla="val 50000"/>
            </a:avLst>
          </a:prstGeom>
          <a:solidFill>
            <a:schemeClr val="accent1">
              <a:alpha val="5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Negotiate / Close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4D73DF8-BCBF-E458-B3B7-09CF4A2A347A}"/>
              </a:ext>
            </a:extLst>
          </p:cNvPr>
          <p:cNvSpPr/>
          <p:nvPr/>
        </p:nvSpPr>
        <p:spPr>
          <a:xfrm>
            <a:off x="2266536" y="4124973"/>
            <a:ext cx="2129883" cy="301082"/>
          </a:xfrm>
          <a:prstGeom prst="roundRect">
            <a:avLst>
              <a:gd name="adj" fmla="val 50000"/>
            </a:avLst>
          </a:prstGeom>
          <a:solidFill>
            <a:schemeClr val="accent1">
              <a:alpha val="89864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Schedule</a:t>
            </a:r>
            <a:endParaRPr lang="en-US" sz="1200" dirty="0">
              <a:solidFill>
                <a:schemeClr val="bg1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5E8E681-507F-38E4-B0FD-E393988BA31B}"/>
              </a:ext>
            </a:extLst>
          </p:cNvPr>
          <p:cNvSpPr/>
          <p:nvPr/>
        </p:nvSpPr>
        <p:spPr>
          <a:xfrm>
            <a:off x="2266536" y="4587749"/>
            <a:ext cx="2129883" cy="301082"/>
          </a:xfrm>
          <a:prstGeom prst="roundRect">
            <a:avLst>
              <a:gd name="adj" fmla="val 50000"/>
            </a:avLst>
          </a:prstGeom>
          <a:solidFill>
            <a:schemeClr val="accent1">
              <a:alpha val="89864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Deliver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8FFB14-5328-3D24-75EA-D494D9B25AC7}"/>
              </a:ext>
            </a:extLst>
          </p:cNvPr>
          <p:cNvSpPr txBox="1"/>
          <p:nvPr/>
        </p:nvSpPr>
        <p:spPr>
          <a:xfrm>
            <a:off x="4652897" y="2760228"/>
            <a:ext cx="64844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Iterative Process, loops back and forth with </a:t>
            </a:r>
            <a:r>
              <a:rPr lang="en-US" sz="105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Customer – Medium (50-75%) Probability of Revenue Acquisition</a:t>
            </a:r>
            <a:endParaRPr lang="en-US" sz="105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FA24EC-7762-2DEB-C228-4AE5F973B447}"/>
              </a:ext>
            </a:extLst>
          </p:cNvPr>
          <p:cNvSpPr txBox="1"/>
          <p:nvPr/>
        </p:nvSpPr>
        <p:spPr>
          <a:xfrm>
            <a:off x="4652897" y="3685780"/>
            <a:ext cx="62840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Iterative Process, loops back and forth </a:t>
            </a:r>
            <a:r>
              <a:rPr lang="en-US" sz="105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with Customer – High (75-90%) Probability of Revenue Acquisition</a:t>
            </a:r>
            <a:endParaRPr lang="en-US" sz="105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B4493C-EDD1-C378-C34F-18E10A13E5D8}"/>
              </a:ext>
            </a:extLst>
          </p:cNvPr>
          <p:cNvSpPr txBox="1"/>
          <p:nvPr/>
        </p:nvSpPr>
        <p:spPr>
          <a:xfrm>
            <a:off x="4652897" y="1371900"/>
            <a:ext cx="40302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Long List of Targets – Low (5%) Probability of Revenue Acquisition</a:t>
            </a:r>
            <a:endParaRPr lang="en-US" sz="105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403867-6DD6-5E2D-2E0B-2AE697C567AF}"/>
              </a:ext>
            </a:extLst>
          </p:cNvPr>
          <p:cNvSpPr txBox="1"/>
          <p:nvPr/>
        </p:nvSpPr>
        <p:spPr>
          <a:xfrm>
            <a:off x="4652897" y="1834676"/>
            <a:ext cx="48285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Medium List of Targets – Medium/Low (10%)  Probability of Revenue Acquisition</a:t>
            </a:r>
            <a:endParaRPr lang="en-US" sz="105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3F5503-465C-1310-965B-FD8325B6BBF1}"/>
              </a:ext>
            </a:extLst>
          </p:cNvPr>
          <p:cNvSpPr txBox="1"/>
          <p:nvPr/>
        </p:nvSpPr>
        <p:spPr>
          <a:xfrm>
            <a:off x="4652897" y="2297452"/>
            <a:ext cx="45464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Short List of Targets – Medium (20-40%) Probability of Revenue Acquisition</a:t>
            </a:r>
            <a:endParaRPr lang="en-US" sz="105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A4EB32-37A8-0F86-9DBE-0CDA4D9964BF}"/>
              </a:ext>
            </a:extLst>
          </p:cNvPr>
          <p:cNvSpPr txBox="1"/>
          <p:nvPr/>
        </p:nvSpPr>
        <p:spPr>
          <a:xfrm rot="16200000">
            <a:off x="817671" y="2518193"/>
            <a:ext cx="6367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Sales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004769D1-3517-088F-0202-3DAFBEEF163C}"/>
              </a:ext>
            </a:extLst>
          </p:cNvPr>
          <p:cNvSpPr/>
          <p:nvPr/>
        </p:nvSpPr>
        <p:spPr>
          <a:xfrm>
            <a:off x="1320693" y="1348317"/>
            <a:ext cx="272128" cy="261496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2781CC-8742-86B9-3164-DBF58C349C87}"/>
              </a:ext>
            </a:extLst>
          </p:cNvPr>
          <p:cNvSpPr txBox="1"/>
          <p:nvPr/>
        </p:nvSpPr>
        <p:spPr>
          <a:xfrm rot="16200000">
            <a:off x="711874" y="4369297"/>
            <a:ext cx="848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Delivery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0B736341-B1C9-43E8-C9E0-21086B23C55C}"/>
              </a:ext>
            </a:extLst>
          </p:cNvPr>
          <p:cNvSpPr/>
          <p:nvPr/>
        </p:nvSpPr>
        <p:spPr>
          <a:xfrm>
            <a:off x="1320693" y="4124973"/>
            <a:ext cx="272128" cy="77879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6B0B3A-32B9-1478-1944-40F1BAA48180}"/>
              </a:ext>
            </a:extLst>
          </p:cNvPr>
          <p:cNvSpPr txBox="1"/>
          <p:nvPr/>
        </p:nvSpPr>
        <p:spPr>
          <a:xfrm>
            <a:off x="4652897" y="4148556"/>
            <a:ext cx="262924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Schedule of Work, Acquisition of Materials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36ABE4-3F74-1FC4-6BE5-FDB743401718}"/>
              </a:ext>
            </a:extLst>
          </p:cNvPr>
          <p:cNvSpPr txBox="1"/>
          <p:nvPr/>
        </p:nvSpPr>
        <p:spPr>
          <a:xfrm>
            <a:off x="4649612" y="4611332"/>
            <a:ext cx="36263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Allocation of Resource, Tracking of Effort, Review of Quality</a:t>
            </a:r>
            <a:endParaRPr lang="en-US" sz="105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FBBEFD2-A38D-06B9-75E9-4D8DA8E5FAB5}"/>
              </a:ext>
            </a:extLst>
          </p:cNvPr>
          <p:cNvGrpSpPr/>
          <p:nvPr/>
        </p:nvGrpSpPr>
        <p:grpSpPr>
          <a:xfrm>
            <a:off x="4396419" y="3037727"/>
            <a:ext cx="179555" cy="177062"/>
            <a:chOff x="4419598" y="5821680"/>
            <a:chExt cx="179555" cy="177062"/>
          </a:xfrm>
        </p:grpSpPr>
        <p:sp>
          <p:nvSpPr>
            <p:cNvPr id="25" name="Bent Arrow 24">
              <a:extLst>
                <a:ext uri="{FF2B5EF4-FFF2-40B4-BE49-F238E27FC236}">
                  <a16:creationId xmlns:a16="http://schemas.microsoft.com/office/drawing/2014/main" id="{335841C3-4EA4-9812-A7A1-005C0658B9FE}"/>
                </a:ext>
              </a:extLst>
            </p:cNvPr>
            <p:cNvSpPr/>
            <p:nvPr/>
          </p:nvSpPr>
          <p:spPr>
            <a:xfrm flipH="1">
              <a:off x="4452849" y="5821680"/>
              <a:ext cx="146304" cy="118872"/>
            </a:xfrm>
            <a:prstGeom prst="bentArrow">
              <a:avLst/>
            </a:prstGeom>
            <a:solidFill>
              <a:schemeClr val="accent1">
                <a:alpha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endParaRPr>
            </a:p>
          </p:txBody>
        </p:sp>
        <p:sp>
          <p:nvSpPr>
            <p:cNvPr id="26" name="Bent Arrow 25">
              <a:extLst>
                <a:ext uri="{FF2B5EF4-FFF2-40B4-BE49-F238E27FC236}">
                  <a16:creationId xmlns:a16="http://schemas.microsoft.com/office/drawing/2014/main" id="{5C643291-1316-A8C6-D8DE-744505A5EEEF}"/>
                </a:ext>
              </a:extLst>
            </p:cNvPr>
            <p:cNvSpPr/>
            <p:nvPr/>
          </p:nvSpPr>
          <p:spPr>
            <a:xfrm flipV="1">
              <a:off x="4419598" y="5879870"/>
              <a:ext cx="146304" cy="118872"/>
            </a:xfrm>
            <a:prstGeom prst="bentArrow">
              <a:avLst/>
            </a:prstGeom>
            <a:solidFill>
              <a:schemeClr val="accent1">
                <a:alpha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B6D170E-A735-BFE1-9D02-2FEEC0BD43A9}"/>
              </a:ext>
            </a:extLst>
          </p:cNvPr>
          <p:cNvGrpSpPr/>
          <p:nvPr/>
        </p:nvGrpSpPr>
        <p:grpSpPr>
          <a:xfrm>
            <a:off x="4396419" y="3470162"/>
            <a:ext cx="179555" cy="177062"/>
            <a:chOff x="4419598" y="5821680"/>
            <a:chExt cx="179555" cy="177062"/>
          </a:xfrm>
        </p:grpSpPr>
        <p:sp>
          <p:nvSpPr>
            <p:cNvPr id="29" name="Bent Arrow 28">
              <a:extLst>
                <a:ext uri="{FF2B5EF4-FFF2-40B4-BE49-F238E27FC236}">
                  <a16:creationId xmlns:a16="http://schemas.microsoft.com/office/drawing/2014/main" id="{57D8CD6B-9E2E-D97E-9894-949DE31EA4D5}"/>
                </a:ext>
              </a:extLst>
            </p:cNvPr>
            <p:cNvSpPr/>
            <p:nvPr/>
          </p:nvSpPr>
          <p:spPr>
            <a:xfrm flipH="1">
              <a:off x="4452849" y="5821680"/>
              <a:ext cx="146304" cy="118872"/>
            </a:xfrm>
            <a:prstGeom prst="bentArrow">
              <a:avLst/>
            </a:prstGeom>
            <a:solidFill>
              <a:schemeClr val="accent1">
                <a:alpha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endParaRPr>
            </a:p>
          </p:txBody>
        </p:sp>
        <p:sp>
          <p:nvSpPr>
            <p:cNvPr id="30" name="Bent Arrow 29">
              <a:extLst>
                <a:ext uri="{FF2B5EF4-FFF2-40B4-BE49-F238E27FC236}">
                  <a16:creationId xmlns:a16="http://schemas.microsoft.com/office/drawing/2014/main" id="{547B84EC-E07A-EEC3-3046-4D0FD0FCBE8D}"/>
                </a:ext>
              </a:extLst>
            </p:cNvPr>
            <p:cNvSpPr/>
            <p:nvPr/>
          </p:nvSpPr>
          <p:spPr>
            <a:xfrm flipV="1">
              <a:off x="4419598" y="5879870"/>
              <a:ext cx="146304" cy="118872"/>
            </a:xfrm>
            <a:prstGeom prst="bentArrow">
              <a:avLst/>
            </a:prstGeom>
            <a:solidFill>
              <a:schemeClr val="accent1">
                <a:alpha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endParaRPr>
            </a:p>
          </p:txBody>
        </p:sp>
      </p:grpSp>
      <p:sp>
        <p:nvSpPr>
          <p:cNvPr id="33" name="Down Arrow 32">
            <a:extLst>
              <a:ext uri="{FF2B5EF4-FFF2-40B4-BE49-F238E27FC236}">
                <a16:creationId xmlns:a16="http://schemas.microsoft.com/office/drawing/2014/main" id="{EE76D4A1-8691-8280-5F63-1DC08B369231}"/>
              </a:ext>
            </a:extLst>
          </p:cNvPr>
          <p:cNvSpPr/>
          <p:nvPr/>
        </p:nvSpPr>
        <p:spPr>
          <a:xfrm>
            <a:off x="1652204" y="1348317"/>
            <a:ext cx="274320" cy="3516931"/>
          </a:xfrm>
          <a:prstGeom prst="downArrow">
            <a:avLst/>
          </a:prstGeom>
          <a:solidFill>
            <a:schemeClr val="accent1">
              <a:alpha val="15222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rIns="0" rtlCol="0" anchor="ctr" anchorCtr="0"/>
          <a:lstStyle/>
          <a:p>
            <a:pPr algn="ctr"/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488738-155F-BE8C-0064-A4046AB94C01}"/>
              </a:ext>
            </a:extLst>
          </p:cNvPr>
          <p:cNvSpPr txBox="1"/>
          <p:nvPr/>
        </p:nvSpPr>
        <p:spPr>
          <a:xfrm rot="5400000">
            <a:off x="1422084" y="1557767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Customer</a:t>
            </a:r>
          </a:p>
        </p:txBody>
      </p:sp>
      <p:sp>
        <p:nvSpPr>
          <p:cNvPr id="37" name="Down Arrow 36">
            <a:extLst>
              <a:ext uri="{FF2B5EF4-FFF2-40B4-BE49-F238E27FC236}">
                <a16:creationId xmlns:a16="http://schemas.microsoft.com/office/drawing/2014/main" id="{B6E955D9-1162-DB0F-706C-F992AC08A0A9}"/>
              </a:ext>
            </a:extLst>
          </p:cNvPr>
          <p:cNvSpPr/>
          <p:nvPr/>
        </p:nvSpPr>
        <p:spPr>
          <a:xfrm>
            <a:off x="1941764" y="2736645"/>
            <a:ext cx="274320" cy="2128603"/>
          </a:xfrm>
          <a:prstGeom prst="downArrow">
            <a:avLst/>
          </a:prstGeom>
          <a:solidFill>
            <a:schemeClr val="accent1">
              <a:alpha val="15222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lIns="0" rIns="0" rtlCol="0" anchor="ctr" anchorCtr="0"/>
          <a:lstStyle/>
          <a:p>
            <a:pPr algn="ctr"/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E19ABC-C0CB-8A78-F759-DB6DD26352CF}"/>
              </a:ext>
            </a:extLst>
          </p:cNvPr>
          <p:cNvSpPr txBox="1"/>
          <p:nvPr/>
        </p:nvSpPr>
        <p:spPr>
          <a:xfrm rot="5400000">
            <a:off x="1559353" y="3098386"/>
            <a:ext cx="10695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Job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9EC560-E4D9-5290-7979-DA529B414CDE}"/>
              </a:ext>
            </a:extLst>
          </p:cNvPr>
          <p:cNvSpPr txBox="1"/>
          <p:nvPr/>
        </p:nvSpPr>
        <p:spPr>
          <a:xfrm>
            <a:off x="575571" y="394915"/>
            <a:ext cx="3914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Pipeline &amp; Job Status Progression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619A3EB-641C-EA6F-41B8-05C2E315F554}"/>
              </a:ext>
            </a:extLst>
          </p:cNvPr>
          <p:cNvSpPr/>
          <p:nvPr/>
        </p:nvSpPr>
        <p:spPr>
          <a:xfrm>
            <a:off x="2583713" y="5186198"/>
            <a:ext cx="1812706" cy="3010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2">
                    <a:lumMod val="90000"/>
                    <a:lumOff val="1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Invoiced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94BF4FE-3535-5C31-DCDE-82D6B1F6F958}"/>
              </a:ext>
            </a:extLst>
          </p:cNvPr>
          <p:cNvSpPr/>
          <p:nvPr/>
        </p:nvSpPr>
        <p:spPr>
          <a:xfrm>
            <a:off x="2583713" y="5634106"/>
            <a:ext cx="1812706" cy="3010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2">
                    <a:lumMod val="90000"/>
                    <a:lumOff val="10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rPr>
              <a:t>Paid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4B01FD-3A8D-C4FF-088E-91AD31704D53}"/>
              </a:ext>
            </a:extLst>
          </p:cNvPr>
          <p:cNvSpPr txBox="1"/>
          <p:nvPr/>
        </p:nvSpPr>
        <p:spPr>
          <a:xfrm rot="16200000">
            <a:off x="921810" y="5360352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AP</a:t>
            </a:r>
          </a:p>
        </p:txBody>
      </p:sp>
      <p:sp>
        <p:nvSpPr>
          <p:cNvPr id="49" name="Left Brace 48">
            <a:extLst>
              <a:ext uri="{FF2B5EF4-FFF2-40B4-BE49-F238E27FC236}">
                <a16:creationId xmlns:a16="http://schemas.microsoft.com/office/drawing/2014/main" id="{1F9A2D57-31DD-1968-F38E-CDB4FD70BD9A}"/>
              </a:ext>
            </a:extLst>
          </p:cNvPr>
          <p:cNvSpPr/>
          <p:nvPr/>
        </p:nvSpPr>
        <p:spPr>
          <a:xfrm>
            <a:off x="1319033" y="5116028"/>
            <a:ext cx="272128" cy="77879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BA3507E-94D1-9CDF-7B63-0ACFF5245BE1}"/>
              </a:ext>
            </a:extLst>
          </p:cNvPr>
          <p:cNvGrpSpPr/>
          <p:nvPr/>
        </p:nvGrpSpPr>
        <p:grpSpPr>
          <a:xfrm>
            <a:off x="4123516" y="5248208"/>
            <a:ext cx="179555" cy="177062"/>
            <a:chOff x="4419598" y="5821680"/>
            <a:chExt cx="179555" cy="177062"/>
          </a:xfrm>
        </p:grpSpPr>
        <p:sp>
          <p:nvSpPr>
            <p:cNvPr id="52" name="Bent Arrow 51">
              <a:extLst>
                <a:ext uri="{FF2B5EF4-FFF2-40B4-BE49-F238E27FC236}">
                  <a16:creationId xmlns:a16="http://schemas.microsoft.com/office/drawing/2014/main" id="{3AC97B08-1F07-6376-CD2D-E53AC9C442D0}"/>
                </a:ext>
              </a:extLst>
            </p:cNvPr>
            <p:cNvSpPr/>
            <p:nvPr/>
          </p:nvSpPr>
          <p:spPr>
            <a:xfrm flipH="1">
              <a:off x="4452849" y="5821680"/>
              <a:ext cx="146304" cy="118872"/>
            </a:xfrm>
            <a:prstGeom prst="bentArrow">
              <a:avLst/>
            </a:prstGeom>
            <a:solidFill>
              <a:schemeClr val="accent1">
                <a:alpha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endParaRPr>
            </a:p>
          </p:txBody>
        </p:sp>
        <p:sp>
          <p:nvSpPr>
            <p:cNvPr id="53" name="Bent Arrow 52">
              <a:extLst>
                <a:ext uri="{FF2B5EF4-FFF2-40B4-BE49-F238E27FC236}">
                  <a16:creationId xmlns:a16="http://schemas.microsoft.com/office/drawing/2014/main" id="{C77A8759-33A1-43DD-6D3B-D94927B6A87D}"/>
                </a:ext>
              </a:extLst>
            </p:cNvPr>
            <p:cNvSpPr/>
            <p:nvPr/>
          </p:nvSpPr>
          <p:spPr>
            <a:xfrm flipV="1">
              <a:off x="4419598" y="5879870"/>
              <a:ext cx="146304" cy="118872"/>
            </a:xfrm>
            <a:prstGeom prst="bentArrow">
              <a:avLst/>
            </a:prstGeom>
            <a:solidFill>
              <a:schemeClr val="accent1">
                <a:alpha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CAAA6B6-ED4B-95FB-8C2B-862AF62FD24F}"/>
              </a:ext>
            </a:extLst>
          </p:cNvPr>
          <p:cNvGrpSpPr/>
          <p:nvPr/>
        </p:nvGrpSpPr>
        <p:grpSpPr>
          <a:xfrm>
            <a:off x="4121676" y="5696116"/>
            <a:ext cx="179555" cy="177062"/>
            <a:chOff x="4419598" y="5821680"/>
            <a:chExt cx="179555" cy="177062"/>
          </a:xfrm>
        </p:grpSpPr>
        <p:sp>
          <p:nvSpPr>
            <p:cNvPr id="55" name="Bent Arrow 54">
              <a:extLst>
                <a:ext uri="{FF2B5EF4-FFF2-40B4-BE49-F238E27FC236}">
                  <a16:creationId xmlns:a16="http://schemas.microsoft.com/office/drawing/2014/main" id="{0F876194-5CC5-349D-BC0A-32C5CAF74FE7}"/>
                </a:ext>
              </a:extLst>
            </p:cNvPr>
            <p:cNvSpPr/>
            <p:nvPr/>
          </p:nvSpPr>
          <p:spPr>
            <a:xfrm flipH="1">
              <a:off x="4452849" y="5821680"/>
              <a:ext cx="146304" cy="118872"/>
            </a:xfrm>
            <a:prstGeom prst="bentArrow">
              <a:avLst/>
            </a:prstGeom>
            <a:solidFill>
              <a:schemeClr val="accent1">
                <a:alpha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endParaRPr>
            </a:p>
          </p:txBody>
        </p:sp>
        <p:sp>
          <p:nvSpPr>
            <p:cNvPr id="56" name="Bent Arrow 55">
              <a:extLst>
                <a:ext uri="{FF2B5EF4-FFF2-40B4-BE49-F238E27FC236}">
                  <a16:creationId xmlns:a16="http://schemas.microsoft.com/office/drawing/2014/main" id="{1207E902-325C-9578-9337-5332E92468AD}"/>
                </a:ext>
              </a:extLst>
            </p:cNvPr>
            <p:cNvSpPr/>
            <p:nvPr/>
          </p:nvSpPr>
          <p:spPr>
            <a:xfrm flipV="1">
              <a:off x="4419598" y="5879870"/>
              <a:ext cx="146304" cy="118872"/>
            </a:xfrm>
            <a:prstGeom prst="bentArrow">
              <a:avLst/>
            </a:prstGeom>
            <a:solidFill>
              <a:schemeClr val="accent1">
                <a:alpha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8339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122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Helvetica Neue</vt:lpstr>
      <vt:lpstr>Helvetica Neue Light</vt:lpstr>
      <vt:lpstr>Helvetica Neue Light</vt:lpstr>
      <vt:lpstr>HELVETICA NEUE MEDIUM</vt:lpstr>
      <vt:lpstr>HELVETICA NEUE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 Primavera</dc:creator>
  <cp:lastModifiedBy>Brad Primavera</cp:lastModifiedBy>
  <cp:revision>6</cp:revision>
  <dcterms:created xsi:type="dcterms:W3CDTF">2025-12-09T16:21:33Z</dcterms:created>
  <dcterms:modified xsi:type="dcterms:W3CDTF">2025-12-09T17:11:34Z</dcterms:modified>
</cp:coreProperties>
</file>